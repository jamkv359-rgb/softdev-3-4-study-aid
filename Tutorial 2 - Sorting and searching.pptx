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ecursive"/>
      <p:regular r:id="rId31"/>
      <p:bold r:id="rId32"/>
    </p:embeddedFont>
    <p:embeddedFont>
      <p:font typeface="DM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ecursive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DMSans-regular.fntdata"/><Relationship Id="rId10" Type="http://schemas.openxmlformats.org/officeDocument/2006/relationships/slide" Target="slides/slide5.xml"/><Relationship Id="rId32" Type="http://schemas.openxmlformats.org/officeDocument/2006/relationships/font" Target="fonts/Recursive-bold.fntdata"/><Relationship Id="rId13" Type="http://schemas.openxmlformats.org/officeDocument/2006/relationships/slide" Target="slides/slide8.xml"/><Relationship Id="rId35" Type="http://schemas.openxmlformats.org/officeDocument/2006/relationships/font" Target="fonts/DMSans-italic.fntdata"/><Relationship Id="rId12" Type="http://schemas.openxmlformats.org/officeDocument/2006/relationships/slide" Target="slides/slide7.xml"/><Relationship Id="rId34" Type="http://schemas.openxmlformats.org/officeDocument/2006/relationships/font" Target="fonts/DMSans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DM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51fa3293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151fa3293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151fa329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151fa329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51fa3293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51fa3293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151fa3293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151fa3293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151fa3293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151fa3293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473ba88c3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473ba88c3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473ba88c3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473ba88c3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73ba88c3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73ba88c3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473ba88c3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473ba88c3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473ba88c3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473ba88c3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a36bbf44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ca36bbf44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73ba88c3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473ba88c3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151fa3293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151fa3293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151fa3293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151fa3293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473ba88c3a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473ba88c3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473ba88c3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473ba88c3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473ba88c3a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473ba88c3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473ba88c3a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473ba88c3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473ba88c3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473ba88c3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473ba88c3a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473ba88c3a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473ba88c3a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473ba88c3a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473ba88c3a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473ba88c3a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509db2d6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509db2d6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509db2d6a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509db2d6a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4A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cursive"/>
              <a:buNone/>
              <a:defRPr sz="2800">
                <a:solidFill>
                  <a:schemeClr val="dk1"/>
                </a:solidFill>
                <a:latin typeface="Recursive"/>
                <a:ea typeface="Recursive"/>
                <a:cs typeface="Recursive"/>
                <a:sym typeface="Recursiv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●"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Searching and sorting algorithms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9396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 / 4 Software Development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Searching algorithms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search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does it work?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Start from the beginning of a list of items and iterate through the list until you find the searched for item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Examples: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solidFill>
                  <a:srgbClr val="0000FF"/>
                </a:solidFill>
              </a:rPr>
              <a:t>Search for 45</a:t>
            </a:r>
            <a:r>
              <a:rPr lang="en-GB"/>
              <a:t> - Start at 11, then check 27, then 18, then 45, then stop - item found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solidFill>
                  <a:srgbClr val="0000FF"/>
                </a:solidFill>
              </a:rPr>
              <a:t>Search for 100</a:t>
            </a:r>
            <a:r>
              <a:rPr lang="en-GB"/>
              <a:t> - Start a 11, then check 27, then 18, then 45, then 1, then 98, then 33, then 22, then 48, then stop - item NOT found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198275" y="4341275"/>
            <a:ext cx="88746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11		27		18		45		1		98		33		22		48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search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Advantages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Intuitive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Simple to code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Disadvantages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Slow on large amounts of data in comparison to a Binary search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Binary search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does it work?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Starting with a sorted list look at the middle value (midpoint)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Determine if you need to go higher or lower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Repeat these steps until you either find the searched for value or have checked through the whole list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Binary search example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198275" y="3416275"/>
            <a:ext cx="88746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1		12		13		17		24		29		30		33		48</a:t>
            </a:r>
            <a:endParaRPr/>
          </a:p>
        </p:txBody>
      </p:sp>
      <p:cxnSp>
        <p:nvCxnSpPr>
          <p:cNvPr id="87" name="Google Shape;87;p18"/>
          <p:cNvCxnSpPr/>
          <p:nvPr/>
        </p:nvCxnSpPr>
        <p:spPr>
          <a:xfrm>
            <a:off x="4572000" y="2571750"/>
            <a:ext cx="0" cy="771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246625"/>
            <a:ext cx="88746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Searching for 33 - 1st pass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Binary search example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198275" y="3416275"/>
            <a:ext cx="88746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1		12		13		17		24		29		30		33		48</a:t>
            </a:r>
            <a:endParaRPr/>
          </a:p>
        </p:txBody>
      </p:sp>
      <p:cxnSp>
        <p:nvCxnSpPr>
          <p:cNvPr id="95" name="Google Shape;95;p19"/>
          <p:cNvCxnSpPr/>
          <p:nvPr/>
        </p:nvCxnSpPr>
        <p:spPr>
          <a:xfrm>
            <a:off x="6365925" y="2645275"/>
            <a:ext cx="0" cy="771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246625"/>
            <a:ext cx="8874600" cy="10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Searching for 33 - 2nd pass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(Go lower where there is an even number, VCAA 2020 Case study Q10)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Binary search example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198275" y="3416275"/>
            <a:ext cx="88746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1		12		13		17		24		29		30		33		48</a:t>
            </a:r>
            <a:endParaRPr/>
          </a:p>
        </p:txBody>
      </p:sp>
      <p:cxnSp>
        <p:nvCxnSpPr>
          <p:cNvPr id="103" name="Google Shape;103;p20"/>
          <p:cNvCxnSpPr/>
          <p:nvPr/>
        </p:nvCxnSpPr>
        <p:spPr>
          <a:xfrm>
            <a:off x="7304950" y="2645275"/>
            <a:ext cx="0" cy="771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246625"/>
            <a:ext cx="8874600" cy="1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Searching for 33 - 3rd pass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COMPLETE - Number found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Binary search example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198275" y="3416275"/>
            <a:ext cx="88746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1		12		13		17		24		29		30		33		48</a:t>
            </a:r>
            <a:endParaRPr/>
          </a:p>
        </p:txBody>
      </p:sp>
      <p:cxnSp>
        <p:nvCxnSpPr>
          <p:cNvPr id="111" name="Google Shape;111;p21"/>
          <p:cNvCxnSpPr/>
          <p:nvPr/>
        </p:nvCxnSpPr>
        <p:spPr>
          <a:xfrm>
            <a:off x="4572000" y="2645275"/>
            <a:ext cx="0" cy="771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246625"/>
            <a:ext cx="88746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Searching for 8 - 1st pass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Binary search example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198275" y="3416275"/>
            <a:ext cx="88746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1		12		13		17		24		29		30		33		48</a:t>
            </a:r>
            <a:endParaRPr/>
          </a:p>
        </p:txBody>
      </p:sp>
      <p:cxnSp>
        <p:nvCxnSpPr>
          <p:cNvPr id="119" name="Google Shape;119;p22"/>
          <p:cNvCxnSpPr/>
          <p:nvPr/>
        </p:nvCxnSpPr>
        <p:spPr>
          <a:xfrm>
            <a:off x="1769000" y="2645275"/>
            <a:ext cx="0" cy="771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246625"/>
            <a:ext cx="88746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Searching for 8 - 2nd pass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Binary search example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198275" y="3416275"/>
            <a:ext cx="88746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1		12		13		17		24		29		30		33		48</a:t>
            </a:r>
            <a:endParaRPr/>
          </a:p>
        </p:txBody>
      </p:sp>
      <p:cxnSp>
        <p:nvCxnSpPr>
          <p:cNvPr id="127" name="Google Shape;127;p23"/>
          <p:cNvCxnSpPr/>
          <p:nvPr/>
        </p:nvCxnSpPr>
        <p:spPr>
          <a:xfrm>
            <a:off x="801950" y="2645275"/>
            <a:ext cx="0" cy="771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1246625"/>
            <a:ext cx="88746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Searching for 8 - 3rd pass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COMPLETE - Number not found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2023 VCAA exam</a:t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4375" y="1152475"/>
            <a:ext cx="6455248" cy="373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Binary search</a:t>
            </a:r>
            <a:endParaRPr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Advantages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More efficient than linear search on larger data sets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Disadvantages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Data needs to be sorted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Sorting algorithms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Selection sort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does it work?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Find the smallest item in the list. Swap the smallest item with the item in the first slot.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Then move on to the second slot, and repeat until the whole list is sorted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Selection sort</a:t>
            </a:r>
            <a:r>
              <a:rPr lang="en-GB"/>
              <a:t> example</a:t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1277450" y="3214213"/>
            <a:ext cx="88746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20</a:t>
            </a:r>
            <a:r>
              <a:rPr lang="en-GB"/>
              <a:t>		3		13		71		2		29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246625"/>
            <a:ext cx="88746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Sort list - 1st </a:t>
            </a:r>
            <a:r>
              <a:rPr lang="en-GB"/>
              <a:t>pass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Find the value for the first position and swap with the current item in that position</a:t>
            </a:r>
            <a:endParaRPr/>
          </a:p>
        </p:txBody>
      </p:sp>
      <p:cxnSp>
        <p:nvCxnSpPr>
          <p:cNvPr id="161" name="Google Shape;161;p28"/>
          <p:cNvCxnSpPr/>
          <p:nvPr/>
        </p:nvCxnSpPr>
        <p:spPr>
          <a:xfrm>
            <a:off x="1948075" y="2606775"/>
            <a:ext cx="3000" cy="498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1333525" y="4315925"/>
            <a:ext cx="88746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i="1" lang="en-GB"/>
              <a:t>2	</a:t>
            </a:r>
            <a:r>
              <a:rPr lang="en-GB"/>
              <a:t>	3		13		71		20		29</a:t>
            </a:r>
            <a:endParaRPr/>
          </a:p>
        </p:txBody>
      </p:sp>
      <p:sp>
        <p:nvSpPr>
          <p:cNvPr id="163" name="Google Shape;163;p28"/>
          <p:cNvSpPr txBox="1"/>
          <p:nvPr>
            <p:ph idx="1" type="body"/>
          </p:nvPr>
        </p:nvSpPr>
        <p:spPr>
          <a:xfrm>
            <a:off x="550225" y="3208113"/>
            <a:ext cx="783300" cy="4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Find</a:t>
            </a:r>
            <a:endParaRPr/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550225" y="4315913"/>
            <a:ext cx="783300" cy="4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Swap</a:t>
            </a:r>
            <a:endParaRPr/>
          </a:p>
        </p:txBody>
      </p:sp>
      <p:cxnSp>
        <p:nvCxnSpPr>
          <p:cNvPr id="165" name="Google Shape;165;p28"/>
          <p:cNvCxnSpPr/>
          <p:nvPr/>
        </p:nvCxnSpPr>
        <p:spPr>
          <a:xfrm>
            <a:off x="5562150" y="2550675"/>
            <a:ext cx="3000" cy="498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" name="Google Shape;166;p28"/>
          <p:cNvCxnSpPr/>
          <p:nvPr/>
        </p:nvCxnSpPr>
        <p:spPr>
          <a:xfrm>
            <a:off x="5634000" y="3817625"/>
            <a:ext cx="3000" cy="498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28"/>
          <p:cNvCxnSpPr/>
          <p:nvPr/>
        </p:nvCxnSpPr>
        <p:spPr>
          <a:xfrm>
            <a:off x="1948075" y="3817625"/>
            <a:ext cx="3000" cy="498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Selection sort example</a:t>
            </a:r>
            <a:endParaRPr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1277450" y="3214213"/>
            <a:ext cx="88746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2		3		13		71		20		29</a:t>
            </a:r>
            <a:endParaRPr/>
          </a:p>
        </p:txBody>
      </p:sp>
      <p:sp>
        <p:nvSpPr>
          <p:cNvPr id="174" name="Google Shape;174;p29"/>
          <p:cNvSpPr txBox="1"/>
          <p:nvPr>
            <p:ph idx="1" type="body"/>
          </p:nvPr>
        </p:nvSpPr>
        <p:spPr>
          <a:xfrm>
            <a:off x="311700" y="1246625"/>
            <a:ext cx="88746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Sort list - 2nd pass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Find the value for the second position and swap with the current item in that position</a:t>
            </a:r>
            <a:endParaRPr/>
          </a:p>
        </p:txBody>
      </p:sp>
      <p:cxnSp>
        <p:nvCxnSpPr>
          <p:cNvPr id="175" name="Google Shape;175;p29"/>
          <p:cNvCxnSpPr/>
          <p:nvPr/>
        </p:nvCxnSpPr>
        <p:spPr>
          <a:xfrm>
            <a:off x="2817000" y="2709825"/>
            <a:ext cx="3000" cy="498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" name="Google Shape;176;p29"/>
          <p:cNvSpPr txBox="1"/>
          <p:nvPr>
            <p:ph idx="1" type="body"/>
          </p:nvPr>
        </p:nvSpPr>
        <p:spPr>
          <a:xfrm>
            <a:off x="1333525" y="4315925"/>
            <a:ext cx="88746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i="1" lang="en-GB"/>
              <a:t>2	</a:t>
            </a:r>
            <a:r>
              <a:rPr b="1" i="1" lang="en-GB"/>
              <a:t>	3</a:t>
            </a:r>
            <a:r>
              <a:rPr lang="en-GB"/>
              <a:t>		13		71		20		29</a:t>
            </a:r>
            <a:endParaRPr/>
          </a:p>
        </p:txBody>
      </p:sp>
      <p:sp>
        <p:nvSpPr>
          <p:cNvPr id="177" name="Google Shape;177;p29"/>
          <p:cNvSpPr txBox="1"/>
          <p:nvPr>
            <p:ph idx="1" type="body"/>
          </p:nvPr>
        </p:nvSpPr>
        <p:spPr>
          <a:xfrm>
            <a:off x="550225" y="3208113"/>
            <a:ext cx="783300" cy="4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Find</a:t>
            </a:r>
            <a:endParaRPr/>
          </a:p>
        </p:txBody>
      </p:sp>
      <p:cxnSp>
        <p:nvCxnSpPr>
          <p:cNvPr id="178" name="Google Shape;178;p29"/>
          <p:cNvCxnSpPr/>
          <p:nvPr/>
        </p:nvCxnSpPr>
        <p:spPr>
          <a:xfrm>
            <a:off x="2927350" y="2709825"/>
            <a:ext cx="3000" cy="498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29"/>
          <p:cNvCxnSpPr/>
          <p:nvPr/>
        </p:nvCxnSpPr>
        <p:spPr>
          <a:xfrm>
            <a:off x="2817000" y="3817625"/>
            <a:ext cx="3000" cy="498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29"/>
          <p:cNvCxnSpPr/>
          <p:nvPr/>
        </p:nvCxnSpPr>
        <p:spPr>
          <a:xfrm>
            <a:off x="2927350" y="3817625"/>
            <a:ext cx="3000" cy="498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3037700" y="3873625"/>
            <a:ext cx="2330100" cy="4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Swap not necessary!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Selection sort example</a:t>
            </a:r>
            <a:endParaRPr/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1277450" y="3214213"/>
            <a:ext cx="88746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2		3		13		71		20		29</a:t>
            </a:r>
            <a:endParaRPr/>
          </a:p>
        </p:txBody>
      </p:sp>
      <p:sp>
        <p:nvSpPr>
          <p:cNvPr id="188" name="Google Shape;188;p30"/>
          <p:cNvSpPr txBox="1"/>
          <p:nvPr>
            <p:ph idx="1" type="body"/>
          </p:nvPr>
        </p:nvSpPr>
        <p:spPr>
          <a:xfrm>
            <a:off x="311700" y="1246625"/>
            <a:ext cx="88746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Sort list - 3rd pass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Find the value for the third position and swap with the current item in that position</a:t>
            </a:r>
            <a:endParaRPr/>
          </a:p>
        </p:txBody>
      </p:sp>
      <p:cxnSp>
        <p:nvCxnSpPr>
          <p:cNvPr id="189" name="Google Shape;189;p30"/>
          <p:cNvCxnSpPr/>
          <p:nvPr/>
        </p:nvCxnSpPr>
        <p:spPr>
          <a:xfrm>
            <a:off x="3713975" y="2709825"/>
            <a:ext cx="3000" cy="498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1333525" y="4315925"/>
            <a:ext cx="88746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i="1" lang="en-GB"/>
              <a:t>2		3</a:t>
            </a:r>
            <a:r>
              <a:rPr b="1" i="1" lang="en-GB"/>
              <a:t>		13	</a:t>
            </a:r>
            <a:r>
              <a:rPr lang="en-GB"/>
              <a:t>	71		20		29</a:t>
            </a:r>
            <a:endParaRPr/>
          </a:p>
        </p:txBody>
      </p:sp>
      <p:sp>
        <p:nvSpPr>
          <p:cNvPr id="191" name="Google Shape;191;p30"/>
          <p:cNvSpPr txBox="1"/>
          <p:nvPr>
            <p:ph idx="1" type="body"/>
          </p:nvPr>
        </p:nvSpPr>
        <p:spPr>
          <a:xfrm>
            <a:off x="550225" y="3208113"/>
            <a:ext cx="783300" cy="4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Find</a:t>
            </a:r>
            <a:endParaRPr/>
          </a:p>
        </p:txBody>
      </p:sp>
      <p:cxnSp>
        <p:nvCxnSpPr>
          <p:cNvPr id="192" name="Google Shape;192;p30"/>
          <p:cNvCxnSpPr/>
          <p:nvPr/>
        </p:nvCxnSpPr>
        <p:spPr>
          <a:xfrm>
            <a:off x="3796275" y="2709825"/>
            <a:ext cx="3000" cy="498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30"/>
          <p:cNvCxnSpPr/>
          <p:nvPr/>
        </p:nvCxnSpPr>
        <p:spPr>
          <a:xfrm>
            <a:off x="3716975" y="3873625"/>
            <a:ext cx="3000" cy="498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30"/>
          <p:cNvCxnSpPr/>
          <p:nvPr/>
        </p:nvCxnSpPr>
        <p:spPr>
          <a:xfrm>
            <a:off x="3827325" y="3873625"/>
            <a:ext cx="3000" cy="498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3937675" y="3929625"/>
            <a:ext cx="2330100" cy="4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Swap not necessary!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Selection sort example</a:t>
            </a:r>
            <a:endParaRPr/>
          </a:p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1277450" y="3214213"/>
            <a:ext cx="88746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i="1" lang="en-GB"/>
              <a:t>2		3		13</a:t>
            </a:r>
            <a:r>
              <a:rPr lang="en-GB"/>
              <a:t>		71		20		29</a:t>
            </a:r>
            <a:endParaRPr/>
          </a:p>
        </p:txBody>
      </p:sp>
      <p:sp>
        <p:nvSpPr>
          <p:cNvPr id="202" name="Google Shape;202;p31"/>
          <p:cNvSpPr txBox="1"/>
          <p:nvPr>
            <p:ph idx="1" type="body"/>
          </p:nvPr>
        </p:nvSpPr>
        <p:spPr>
          <a:xfrm>
            <a:off x="311700" y="1246625"/>
            <a:ext cx="88746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Sort list - 4th pass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Find the value for the fourth position and swap with the current item in that position</a:t>
            </a:r>
            <a:endParaRPr/>
          </a:p>
        </p:txBody>
      </p:sp>
      <p:cxnSp>
        <p:nvCxnSpPr>
          <p:cNvPr id="203" name="Google Shape;203;p31"/>
          <p:cNvCxnSpPr/>
          <p:nvPr/>
        </p:nvCxnSpPr>
        <p:spPr>
          <a:xfrm>
            <a:off x="4680975" y="2550675"/>
            <a:ext cx="3000" cy="498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4" name="Google Shape;204;p31"/>
          <p:cNvSpPr txBox="1"/>
          <p:nvPr>
            <p:ph idx="1" type="body"/>
          </p:nvPr>
        </p:nvSpPr>
        <p:spPr>
          <a:xfrm>
            <a:off x="1333525" y="4315925"/>
            <a:ext cx="88746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i="1" lang="en-GB"/>
              <a:t>2	</a:t>
            </a:r>
            <a:r>
              <a:rPr b="1" i="1" lang="en-GB"/>
              <a:t>	3		13		20</a:t>
            </a:r>
            <a:r>
              <a:rPr lang="en-GB"/>
              <a:t>		71		29</a:t>
            </a:r>
            <a:endParaRPr/>
          </a:p>
        </p:txBody>
      </p:sp>
      <p:sp>
        <p:nvSpPr>
          <p:cNvPr id="205" name="Google Shape;205;p31"/>
          <p:cNvSpPr txBox="1"/>
          <p:nvPr>
            <p:ph idx="1" type="body"/>
          </p:nvPr>
        </p:nvSpPr>
        <p:spPr>
          <a:xfrm>
            <a:off x="550225" y="3208113"/>
            <a:ext cx="783300" cy="4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Find</a:t>
            </a:r>
            <a:endParaRPr/>
          </a:p>
        </p:txBody>
      </p:sp>
      <p:sp>
        <p:nvSpPr>
          <p:cNvPr id="206" name="Google Shape;206;p31"/>
          <p:cNvSpPr txBox="1"/>
          <p:nvPr>
            <p:ph idx="1" type="body"/>
          </p:nvPr>
        </p:nvSpPr>
        <p:spPr>
          <a:xfrm>
            <a:off x="550225" y="4315913"/>
            <a:ext cx="783300" cy="4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Swap</a:t>
            </a:r>
            <a:endParaRPr/>
          </a:p>
        </p:txBody>
      </p:sp>
      <p:cxnSp>
        <p:nvCxnSpPr>
          <p:cNvPr id="207" name="Google Shape;207;p31"/>
          <p:cNvCxnSpPr/>
          <p:nvPr/>
        </p:nvCxnSpPr>
        <p:spPr>
          <a:xfrm>
            <a:off x="5562150" y="2550675"/>
            <a:ext cx="3000" cy="498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31"/>
          <p:cNvCxnSpPr/>
          <p:nvPr/>
        </p:nvCxnSpPr>
        <p:spPr>
          <a:xfrm>
            <a:off x="5634000" y="3817625"/>
            <a:ext cx="3000" cy="498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31"/>
          <p:cNvCxnSpPr/>
          <p:nvPr/>
        </p:nvCxnSpPr>
        <p:spPr>
          <a:xfrm>
            <a:off x="4747500" y="3817625"/>
            <a:ext cx="3000" cy="498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Selection sort example</a:t>
            </a:r>
            <a:endParaRPr/>
          </a:p>
        </p:txBody>
      </p:sp>
      <p:sp>
        <p:nvSpPr>
          <p:cNvPr id="215" name="Google Shape;215;p32"/>
          <p:cNvSpPr txBox="1"/>
          <p:nvPr>
            <p:ph idx="1" type="body"/>
          </p:nvPr>
        </p:nvSpPr>
        <p:spPr>
          <a:xfrm>
            <a:off x="1277450" y="3214213"/>
            <a:ext cx="88746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i="1" lang="en-GB"/>
              <a:t>2		3		13</a:t>
            </a:r>
            <a:r>
              <a:rPr lang="en-GB"/>
              <a:t>	</a:t>
            </a:r>
            <a:r>
              <a:rPr b="1" i="1" lang="en-GB"/>
              <a:t>	20	</a:t>
            </a:r>
            <a:r>
              <a:rPr lang="en-GB"/>
              <a:t>	71		29</a:t>
            </a:r>
            <a:endParaRPr/>
          </a:p>
        </p:txBody>
      </p:sp>
      <p:sp>
        <p:nvSpPr>
          <p:cNvPr id="216" name="Google Shape;216;p32"/>
          <p:cNvSpPr txBox="1"/>
          <p:nvPr>
            <p:ph idx="1" type="body"/>
          </p:nvPr>
        </p:nvSpPr>
        <p:spPr>
          <a:xfrm>
            <a:off x="311700" y="1246625"/>
            <a:ext cx="88746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Sort list - 5th pass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Find the value for the fifth position and swap with the current item in that position</a:t>
            </a:r>
            <a:endParaRPr/>
          </a:p>
        </p:txBody>
      </p:sp>
      <p:cxnSp>
        <p:nvCxnSpPr>
          <p:cNvPr id="217" name="Google Shape;217;p32"/>
          <p:cNvCxnSpPr/>
          <p:nvPr/>
        </p:nvCxnSpPr>
        <p:spPr>
          <a:xfrm>
            <a:off x="5634000" y="2550675"/>
            <a:ext cx="3000" cy="498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p32"/>
          <p:cNvSpPr txBox="1"/>
          <p:nvPr>
            <p:ph idx="1" type="body"/>
          </p:nvPr>
        </p:nvSpPr>
        <p:spPr>
          <a:xfrm>
            <a:off x="1333525" y="4315925"/>
            <a:ext cx="88746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i="1" lang="en-GB"/>
              <a:t>2		3		13		20</a:t>
            </a:r>
            <a:r>
              <a:rPr b="1" i="1" lang="en-GB"/>
              <a:t>		29		71</a:t>
            </a:r>
            <a:endParaRPr b="1" i="1"/>
          </a:p>
        </p:txBody>
      </p:sp>
      <p:sp>
        <p:nvSpPr>
          <p:cNvPr id="219" name="Google Shape;219;p32"/>
          <p:cNvSpPr txBox="1"/>
          <p:nvPr>
            <p:ph idx="1" type="body"/>
          </p:nvPr>
        </p:nvSpPr>
        <p:spPr>
          <a:xfrm>
            <a:off x="550225" y="3208113"/>
            <a:ext cx="783300" cy="4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Find</a:t>
            </a:r>
            <a:endParaRPr/>
          </a:p>
        </p:txBody>
      </p:sp>
      <p:sp>
        <p:nvSpPr>
          <p:cNvPr id="220" name="Google Shape;220;p32"/>
          <p:cNvSpPr txBox="1"/>
          <p:nvPr>
            <p:ph idx="1" type="body"/>
          </p:nvPr>
        </p:nvSpPr>
        <p:spPr>
          <a:xfrm>
            <a:off x="550225" y="4315913"/>
            <a:ext cx="783300" cy="4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Swap</a:t>
            </a:r>
            <a:endParaRPr/>
          </a:p>
        </p:txBody>
      </p:sp>
      <p:cxnSp>
        <p:nvCxnSpPr>
          <p:cNvPr id="221" name="Google Shape;221;p32"/>
          <p:cNvCxnSpPr/>
          <p:nvPr/>
        </p:nvCxnSpPr>
        <p:spPr>
          <a:xfrm>
            <a:off x="6557200" y="2550675"/>
            <a:ext cx="3000" cy="498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32"/>
          <p:cNvCxnSpPr/>
          <p:nvPr/>
        </p:nvCxnSpPr>
        <p:spPr>
          <a:xfrm>
            <a:off x="5634000" y="3817625"/>
            <a:ext cx="3000" cy="498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32"/>
          <p:cNvCxnSpPr/>
          <p:nvPr/>
        </p:nvCxnSpPr>
        <p:spPr>
          <a:xfrm>
            <a:off x="6557200" y="3817625"/>
            <a:ext cx="3000" cy="498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Selection sort</a:t>
            </a:r>
            <a:endParaRPr/>
          </a:p>
        </p:txBody>
      </p:sp>
      <p:sp>
        <p:nvSpPr>
          <p:cNvPr id="229" name="Google Shape;229;p33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Advantages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Intuitive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Simple to code</a:t>
            </a:r>
            <a:endParaRPr/>
          </a:p>
        </p:txBody>
      </p:sp>
      <p:sp>
        <p:nvSpPr>
          <p:cNvPr id="230" name="Google Shape;230;p33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Disadvantages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Less efficient compared to Quick sort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Quick </a:t>
            </a:r>
            <a:r>
              <a:rPr lang="en-GB"/>
              <a:t>sort</a:t>
            </a:r>
            <a:endParaRPr/>
          </a:p>
        </p:txBody>
      </p:sp>
      <p:sp>
        <p:nvSpPr>
          <p:cNvPr id="236" name="Google Shape;23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does it work?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Quick sort is a ‘divide-and-conquer algorithm’ i.e. split the array into two smaller parts, and get each part right.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Here’s how it works: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Pick an item in the array, called “the pivot”. (It doesn’t matter what item, you will probably be told what e.g. the last item).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Make up two arrays of values, above and below the pivot.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Repeat the above two steps on each of these arrays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Quick sort</a:t>
            </a:r>
            <a:r>
              <a:rPr lang="en-GB"/>
              <a:t> example</a:t>
            </a:r>
            <a:endParaRPr/>
          </a:p>
        </p:txBody>
      </p:sp>
      <p:sp>
        <p:nvSpPr>
          <p:cNvPr id="242" name="Google Shape;242;p35"/>
          <p:cNvSpPr txBox="1"/>
          <p:nvPr>
            <p:ph idx="1" type="body"/>
          </p:nvPr>
        </p:nvSpPr>
        <p:spPr>
          <a:xfrm>
            <a:off x="1277450" y="3214213"/>
            <a:ext cx="88746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20		3		13		71		2		29</a:t>
            </a:r>
            <a:endParaRPr/>
          </a:p>
        </p:txBody>
      </p:sp>
      <p:sp>
        <p:nvSpPr>
          <p:cNvPr id="243" name="Google Shape;243;p35"/>
          <p:cNvSpPr txBox="1"/>
          <p:nvPr>
            <p:ph idx="1" type="body"/>
          </p:nvPr>
        </p:nvSpPr>
        <p:spPr>
          <a:xfrm>
            <a:off x="311700" y="1246625"/>
            <a:ext cx="88746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Sort list - 1st pass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Sort values to the left or right of the pivot</a:t>
            </a:r>
            <a:endParaRPr/>
          </a:p>
        </p:txBody>
      </p:sp>
      <p:cxnSp>
        <p:nvCxnSpPr>
          <p:cNvPr id="244" name="Google Shape;244;p35"/>
          <p:cNvCxnSpPr/>
          <p:nvPr/>
        </p:nvCxnSpPr>
        <p:spPr>
          <a:xfrm>
            <a:off x="1948050" y="2614325"/>
            <a:ext cx="3000" cy="498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5" name="Google Shape;245;p35"/>
          <p:cNvSpPr txBox="1"/>
          <p:nvPr>
            <p:ph idx="1" type="body"/>
          </p:nvPr>
        </p:nvSpPr>
        <p:spPr>
          <a:xfrm>
            <a:off x="1333525" y="4315925"/>
            <a:ext cx="88746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</a:t>
            </a:r>
            <a:r>
              <a:rPr lang="en-GB"/>
              <a:t>		13		2		20		71		29</a:t>
            </a:r>
            <a:endParaRPr b="1" i="1"/>
          </a:p>
        </p:txBody>
      </p:sp>
      <p:sp>
        <p:nvSpPr>
          <p:cNvPr id="246" name="Google Shape;246;p35"/>
          <p:cNvSpPr txBox="1"/>
          <p:nvPr>
            <p:ph idx="1" type="body"/>
          </p:nvPr>
        </p:nvSpPr>
        <p:spPr>
          <a:xfrm>
            <a:off x="550225" y="3208133"/>
            <a:ext cx="783300" cy="7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Select pivot</a:t>
            </a:r>
            <a:endParaRPr/>
          </a:p>
        </p:txBody>
      </p:sp>
      <p:sp>
        <p:nvSpPr>
          <p:cNvPr id="247" name="Google Shape;247;p35"/>
          <p:cNvSpPr txBox="1"/>
          <p:nvPr>
            <p:ph idx="1" type="body"/>
          </p:nvPr>
        </p:nvSpPr>
        <p:spPr>
          <a:xfrm>
            <a:off x="550225" y="4245125"/>
            <a:ext cx="10053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500"/>
              <a:t>Sort sub arrays</a:t>
            </a:r>
            <a:endParaRPr sz="1500"/>
          </a:p>
        </p:txBody>
      </p:sp>
      <p:cxnSp>
        <p:nvCxnSpPr>
          <p:cNvPr id="248" name="Google Shape;248;p35"/>
          <p:cNvCxnSpPr/>
          <p:nvPr/>
        </p:nvCxnSpPr>
        <p:spPr>
          <a:xfrm>
            <a:off x="4747500" y="3873625"/>
            <a:ext cx="3000" cy="498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Quick sort example</a:t>
            </a:r>
            <a:endParaRPr/>
          </a:p>
        </p:txBody>
      </p:sp>
      <p:sp>
        <p:nvSpPr>
          <p:cNvPr id="254" name="Google Shape;254;p36"/>
          <p:cNvSpPr txBox="1"/>
          <p:nvPr>
            <p:ph idx="1" type="body"/>
          </p:nvPr>
        </p:nvSpPr>
        <p:spPr>
          <a:xfrm>
            <a:off x="1277450" y="3214213"/>
            <a:ext cx="88746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3		13		2		20		71		29</a:t>
            </a:r>
            <a:endParaRPr/>
          </a:p>
        </p:txBody>
      </p:sp>
      <p:sp>
        <p:nvSpPr>
          <p:cNvPr id="255" name="Google Shape;255;p36"/>
          <p:cNvSpPr txBox="1"/>
          <p:nvPr>
            <p:ph idx="1" type="body"/>
          </p:nvPr>
        </p:nvSpPr>
        <p:spPr>
          <a:xfrm>
            <a:off x="311700" y="1246625"/>
            <a:ext cx="8874600" cy="13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Sort list - Subsequent passes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Repeat the process for each sub array, working off the assumption 20 is now in the correct position</a:t>
            </a:r>
            <a:endParaRPr/>
          </a:p>
        </p:txBody>
      </p:sp>
      <p:sp>
        <p:nvSpPr>
          <p:cNvPr id="256" name="Google Shape;256;p36"/>
          <p:cNvSpPr txBox="1"/>
          <p:nvPr>
            <p:ph idx="1" type="body"/>
          </p:nvPr>
        </p:nvSpPr>
        <p:spPr>
          <a:xfrm rot="-5400000">
            <a:off x="2255628" y="3290950"/>
            <a:ext cx="531000" cy="20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5000">
                <a:solidFill>
                  <a:srgbClr val="FF0000"/>
                </a:solidFill>
              </a:rPr>
              <a:t>{</a:t>
            </a:r>
            <a:endParaRPr sz="15000">
              <a:solidFill>
                <a:srgbClr val="FF0000"/>
              </a:solidFill>
            </a:endParaRPr>
          </a:p>
        </p:txBody>
      </p:sp>
      <p:sp>
        <p:nvSpPr>
          <p:cNvPr id="257" name="Google Shape;257;p36"/>
          <p:cNvSpPr txBox="1"/>
          <p:nvPr>
            <p:ph idx="1" type="body"/>
          </p:nvPr>
        </p:nvSpPr>
        <p:spPr>
          <a:xfrm rot="-5400000">
            <a:off x="5785628" y="3178850"/>
            <a:ext cx="531000" cy="20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0">
                <a:solidFill>
                  <a:srgbClr val="0000FF"/>
                </a:solidFill>
              </a:rPr>
              <a:t>{</a:t>
            </a:r>
            <a:endParaRPr sz="120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Quick sort</a:t>
            </a:r>
            <a:endParaRPr/>
          </a:p>
        </p:txBody>
      </p:sp>
      <p:sp>
        <p:nvSpPr>
          <p:cNvPr id="263" name="Google Shape;263;p3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Advantages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More efficient compared to Linear sort</a:t>
            </a:r>
            <a:endParaRPr/>
          </a:p>
        </p:txBody>
      </p:sp>
      <p:sp>
        <p:nvSpPr>
          <p:cNvPr id="264" name="Google Shape;264;p37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Disadvantages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